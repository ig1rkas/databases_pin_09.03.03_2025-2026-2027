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1" r:id="rId4"/>
    <p:sldId id="268" r:id="rId5"/>
    <p:sldId id="271" r:id="rId6"/>
    <p:sldId id="260" r:id="rId7"/>
    <p:sldId id="282" r:id="rId8"/>
    <p:sldId id="257" r:id="rId9"/>
    <p:sldId id="284" r:id="rId10"/>
  </p:sldIdLst>
  <p:sldSz cx="9144000" cy="5143500" type="screen16x9"/>
  <p:notesSz cx="6858000" cy="9144000"/>
  <p:embeddedFontLst>
    <p:embeddedFont>
      <p:font typeface="Golos Text" panose="02010600030101010101" charset="0"/>
      <p:regular r:id="rId12"/>
      <p:bold r:id="rId13"/>
    </p:embeddedFont>
    <p:embeddedFont>
      <p:font typeface="Golos Text SemiBold" panose="02010600030101010101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9mXnwEVu9d+V50Uwr/fXts1Cp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99A5DF-4346-4468-8EBD-F1B07D128381}">
  <a:tblStyle styleId="{B099A5DF-4346-4468-8EBD-F1B07D1283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6E8"/>
          </a:solidFill>
        </a:fill>
      </a:tcStyle>
    </a:wholeTbl>
    <a:band1H>
      <a:tcTxStyle/>
      <a:tcStyle>
        <a:tcBdr/>
        <a:fill>
          <a:solidFill>
            <a:srgbClr val="F8CA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CA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61" y="48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1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1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1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body" idx="1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48" name="Google Shape;48;p3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1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72" name="Google Shape;72;p44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6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7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7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86" name="Google Shape;86;p47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8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8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8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9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9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9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49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4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9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0" name="Google Shape;100;p49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1" name="Google Shape;101;p49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2" name="Google Shape;102;p49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0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7" name="Google Shape;107;p50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08" name="Google Shape;108;p50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9" name="Google Shape;109;p50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51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4" name="Google Shape;114;p51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115" name="Google Shape;115;p51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16" name="Google Shape;116;p51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17" name="Google Shape;117;p51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2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52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2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24" name="Google Shape;124;p52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25" name="Google Shape;125;p52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26" name="Google Shape;126;p52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52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2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2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130" name="Google Shape;130;p52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31" name="Google Shape;131;p52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0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title"/>
          </p:nvPr>
        </p:nvSpPr>
        <p:spPr>
          <a:xfrm>
            <a:off x="995082" y="2023782"/>
            <a:ext cx="7153835" cy="12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2600">
                <a:solidFill>
                  <a:srgbClr val="FFFFFF"/>
                </a:solidFill>
              </a:rPr>
              <a:t>Лабораторная работа №1</a:t>
            </a:r>
          </a:p>
          <a:p>
            <a:r>
              <a:rPr sz="2600">
                <a:solidFill>
                  <a:srgbClr val="FFFFFF"/>
                </a:solidFill>
              </a:rPr>
              <a:t>Функциональная DFD-модель корпоративной АИС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4562475" y="3397125"/>
            <a:ext cx="4422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sz="1300">
                <a:solidFill>
                  <a:srgbClr val="FFFFFF"/>
                </a:solidFill>
              </a:rPr>
              <a:t>ООО «Архив Кнопка» • Вариант 7</a:t>
            </a:r>
            <a:endParaRPr sz="16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FFFFFF"/>
                </a:solidFill>
              </a:rPr>
              <a:t>Дисциплина: Проектирование и реализация баз данных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FFFFFF"/>
                </a:solidFill>
              </a:rPr>
              <a:t>Преподаватель: Говорова Марина Михайловна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FFFFFF"/>
                </a:solidFill>
              </a:rPr>
              <a:t>Выполнил: Пожидаев Денис Александрович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FFFFFF"/>
                </a:solidFill>
              </a:rPr>
              <a:t>Группа: К3140, МСТ К25 1.1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FFFFFF"/>
                </a:solidFill>
              </a:rPr>
              <a:t>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>
            <a:spLocks noGrp="1"/>
          </p:cNvSpPr>
          <p:nvPr>
            <p:ph type="body" idx="1"/>
          </p:nvPr>
        </p:nvSpPr>
        <p:spPr>
          <a:xfrm>
            <a:off x="616688" y="1180778"/>
            <a:ext cx="7272669" cy="319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Clr>
                <a:srgbClr val="7030A0"/>
              </a:buClr>
              <a:buSzPts val="1800"/>
              <a:buNone/>
            </a:pPr>
            <a:r>
              <a:rPr sz="1500" dirty="0" err="1"/>
              <a:t>Цель</a:t>
            </a:r>
            <a:r>
              <a:rPr sz="1500" dirty="0"/>
              <a:t> — </a:t>
            </a:r>
            <a:r>
              <a:rPr sz="1500" dirty="0" err="1"/>
              <a:t>построить</a:t>
            </a:r>
            <a:r>
              <a:rPr sz="1500" dirty="0"/>
              <a:t> </a:t>
            </a:r>
            <a:r>
              <a:rPr sz="1500" dirty="0" err="1"/>
              <a:t>функциональную</a:t>
            </a:r>
            <a:r>
              <a:rPr sz="1500" dirty="0"/>
              <a:t> DFD-</a:t>
            </a:r>
            <a:r>
              <a:rPr sz="1500" dirty="0" err="1"/>
              <a:t>модель</a:t>
            </a:r>
            <a:r>
              <a:rPr sz="1500" dirty="0"/>
              <a:t> АИС и </a:t>
            </a:r>
            <a:r>
              <a:rPr sz="1500" dirty="0" err="1"/>
              <a:t>показать</a:t>
            </a:r>
            <a:r>
              <a:rPr sz="1500" dirty="0"/>
              <a:t>, </a:t>
            </a:r>
            <a:r>
              <a:rPr sz="1500" dirty="0" err="1"/>
              <a:t>кто</a:t>
            </a:r>
            <a:r>
              <a:rPr sz="1500" dirty="0"/>
              <a:t> </a:t>
            </a:r>
            <a:r>
              <a:rPr sz="1500" dirty="0" err="1"/>
              <a:t>создаёт</a:t>
            </a:r>
            <a:r>
              <a:rPr sz="1500" dirty="0"/>
              <a:t> </a:t>
            </a:r>
            <a:r>
              <a:rPr sz="1500" dirty="0" err="1"/>
              <a:t>данные</a:t>
            </a:r>
            <a:r>
              <a:rPr sz="1500" dirty="0"/>
              <a:t>, </a:t>
            </a:r>
            <a:r>
              <a:rPr sz="1500" dirty="0" err="1"/>
              <a:t>какие</a:t>
            </a:r>
            <a:r>
              <a:rPr sz="1500" dirty="0"/>
              <a:t> </a:t>
            </a:r>
            <a:r>
              <a:rPr sz="1500" dirty="0" err="1"/>
              <a:t>процессы</a:t>
            </a:r>
            <a:r>
              <a:rPr sz="1500" dirty="0"/>
              <a:t> </a:t>
            </a:r>
            <a:r>
              <a:rPr sz="1500" dirty="0" err="1"/>
              <a:t>их</a:t>
            </a:r>
            <a:r>
              <a:rPr sz="1500" dirty="0"/>
              <a:t> </a:t>
            </a:r>
            <a:r>
              <a:rPr sz="1500" dirty="0" err="1"/>
              <a:t>обрабатывают</a:t>
            </a:r>
            <a:r>
              <a:rPr sz="1500" dirty="0"/>
              <a:t>, </a:t>
            </a:r>
            <a:r>
              <a:rPr sz="1500" dirty="0" err="1"/>
              <a:t>где</a:t>
            </a:r>
            <a:r>
              <a:rPr sz="1500" dirty="0"/>
              <a:t> </a:t>
            </a:r>
            <a:r>
              <a:rPr sz="1500" dirty="0" err="1"/>
              <a:t>они</a:t>
            </a:r>
            <a:r>
              <a:rPr sz="1500" dirty="0"/>
              <a:t> </a:t>
            </a:r>
            <a:r>
              <a:rPr sz="1500" dirty="0" err="1"/>
              <a:t>хранятся</a:t>
            </a:r>
            <a:r>
              <a:rPr sz="1500" dirty="0"/>
              <a:t> и </a:t>
            </a:r>
            <a:r>
              <a:rPr sz="1500" dirty="0" err="1"/>
              <a:t>кому</a:t>
            </a:r>
            <a:r>
              <a:rPr sz="1500" dirty="0"/>
              <a:t> </a:t>
            </a:r>
            <a:r>
              <a:rPr sz="1500" dirty="0" err="1"/>
              <a:t>передаются</a:t>
            </a:r>
            <a:r>
              <a:rPr sz="1500" dirty="0"/>
              <a:t>.</a:t>
            </a:r>
            <a:endParaRPr sz="1800" b="1" i="0" u="none" strike="noStrike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"/>
              </a:spcAft>
            </a:pPr>
            <a:endParaRPr sz="1800" b="1" i="0" u="none" strike="noStrike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"/>
              </a:spcAft>
            </a:pPr>
            <a:r>
              <a:rPr sz="1500" dirty="0" err="1"/>
              <a:t>Граница</a:t>
            </a:r>
            <a:r>
              <a:rPr sz="1500" dirty="0"/>
              <a:t> </a:t>
            </a:r>
            <a:r>
              <a:rPr sz="1500" dirty="0" err="1"/>
              <a:t>бизнес-процесса</a:t>
            </a:r>
            <a:r>
              <a:rPr sz="1500" dirty="0"/>
              <a:t>: </a:t>
            </a:r>
            <a:r>
              <a:rPr sz="1500" dirty="0" err="1"/>
              <a:t>от</a:t>
            </a:r>
            <a:r>
              <a:rPr sz="1500" dirty="0"/>
              <a:t> </a:t>
            </a:r>
            <a:r>
              <a:rPr sz="1500" dirty="0" err="1"/>
              <a:t>поступления</a:t>
            </a:r>
            <a:r>
              <a:rPr sz="1500" dirty="0"/>
              <a:t> </a:t>
            </a:r>
            <a:r>
              <a:rPr sz="1500" dirty="0" err="1"/>
              <a:t>заявки</a:t>
            </a:r>
            <a:r>
              <a:rPr sz="1500" dirty="0"/>
              <a:t> </a:t>
            </a:r>
            <a:r>
              <a:rPr sz="1500" dirty="0" err="1"/>
              <a:t>клиента</a:t>
            </a:r>
            <a:r>
              <a:rPr sz="1500" dirty="0"/>
              <a:t> </a:t>
            </a:r>
            <a:r>
              <a:rPr sz="1500" dirty="0" err="1"/>
              <a:t>до</a:t>
            </a:r>
            <a:r>
              <a:rPr sz="1500" dirty="0"/>
              <a:t> </a:t>
            </a:r>
            <a:r>
              <a:rPr sz="1500" dirty="0" err="1"/>
              <a:t>полного</a:t>
            </a:r>
            <a:r>
              <a:rPr sz="1500" dirty="0"/>
              <a:t> </a:t>
            </a:r>
            <a:r>
              <a:rPr sz="1500" dirty="0" err="1"/>
              <a:t>выполнения</a:t>
            </a:r>
            <a:r>
              <a:rPr sz="1500" dirty="0"/>
              <a:t> </a:t>
            </a:r>
            <a:r>
              <a:rPr sz="1500" dirty="0" err="1"/>
              <a:t>архивной</a:t>
            </a:r>
            <a:r>
              <a:rPr sz="1500" dirty="0"/>
              <a:t> </a:t>
            </a:r>
            <a:r>
              <a:rPr sz="1500" dirty="0" err="1"/>
              <a:t>услуги</a:t>
            </a:r>
            <a:r>
              <a:rPr sz="1500" dirty="0"/>
              <a:t>.</a:t>
            </a:r>
          </a:p>
          <a:p>
            <a:pPr>
              <a:spcAft>
                <a:spcPts val="100"/>
              </a:spcAft>
            </a:pPr>
            <a:endParaRPr sz="1500" dirty="0"/>
          </a:p>
          <a:p>
            <a:pPr>
              <a:spcAft>
                <a:spcPts val="100"/>
              </a:spcAft>
            </a:pPr>
            <a:r>
              <a:rPr sz="1500" dirty="0" err="1"/>
              <a:t>Ключевые</a:t>
            </a:r>
            <a:r>
              <a:rPr sz="1500" dirty="0"/>
              <a:t> </a:t>
            </a:r>
            <a:r>
              <a:rPr sz="1500" dirty="0" err="1"/>
              <a:t>проблемы</a:t>
            </a:r>
            <a:r>
              <a:rPr sz="1500" dirty="0"/>
              <a:t> </a:t>
            </a:r>
            <a:r>
              <a:rPr sz="1500" dirty="0" err="1"/>
              <a:t>предметной</a:t>
            </a:r>
            <a:r>
              <a:rPr sz="1500" dirty="0"/>
              <a:t> </a:t>
            </a:r>
            <a:r>
              <a:rPr sz="1500" dirty="0" err="1"/>
              <a:t>области</a:t>
            </a:r>
            <a:r>
              <a:rPr sz="1500" dirty="0"/>
              <a:t>:</a:t>
            </a:r>
          </a:p>
          <a:p>
            <a:pPr>
              <a:spcAft>
                <a:spcPts val="100"/>
              </a:spcAft>
            </a:pPr>
            <a:r>
              <a:rPr sz="1500" dirty="0"/>
              <a:t>• </a:t>
            </a:r>
            <a:r>
              <a:rPr sz="1500" dirty="0" err="1"/>
              <a:t>дублирование</a:t>
            </a:r>
            <a:r>
              <a:rPr sz="1500" dirty="0"/>
              <a:t> и </a:t>
            </a:r>
            <a:r>
              <a:rPr sz="1500" dirty="0" err="1"/>
              <a:t>несвоевременная</a:t>
            </a:r>
            <a:r>
              <a:rPr sz="1500" dirty="0"/>
              <a:t> </a:t>
            </a:r>
            <a:r>
              <a:rPr sz="1500" dirty="0" err="1"/>
              <a:t>передача</a:t>
            </a:r>
            <a:r>
              <a:rPr sz="1500" dirty="0"/>
              <a:t> </a:t>
            </a:r>
            <a:r>
              <a:rPr sz="1500" dirty="0" err="1"/>
              <a:t>информации</a:t>
            </a:r>
            <a:r>
              <a:rPr sz="1500" dirty="0"/>
              <a:t>;</a:t>
            </a:r>
          </a:p>
          <a:p>
            <a:pPr>
              <a:spcAft>
                <a:spcPts val="100"/>
              </a:spcAft>
            </a:pPr>
            <a:r>
              <a:rPr sz="1500" dirty="0"/>
              <a:t>• </a:t>
            </a:r>
            <a:r>
              <a:rPr sz="1500" dirty="0" err="1"/>
              <a:t>ручной</a:t>
            </a:r>
            <a:r>
              <a:rPr sz="1500" dirty="0"/>
              <a:t> </a:t>
            </a:r>
            <a:r>
              <a:rPr sz="1500" dirty="0" err="1"/>
              <a:t>контроль</a:t>
            </a:r>
            <a:r>
              <a:rPr sz="1500" dirty="0"/>
              <a:t> </a:t>
            </a:r>
            <a:r>
              <a:rPr sz="1500" dirty="0" err="1"/>
              <a:t>сроков</a:t>
            </a:r>
            <a:r>
              <a:rPr sz="1500" dirty="0"/>
              <a:t> </a:t>
            </a:r>
            <a:r>
              <a:rPr sz="1500" dirty="0" err="1"/>
              <a:t>исполнения</a:t>
            </a:r>
            <a:r>
              <a:rPr sz="1500" dirty="0"/>
              <a:t> и </a:t>
            </a:r>
            <a:r>
              <a:rPr sz="1500" dirty="0" err="1"/>
              <a:t>хранения</a:t>
            </a:r>
            <a:r>
              <a:rPr sz="1500" dirty="0"/>
              <a:t>;</a:t>
            </a:r>
          </a:p>
          <a:p>
            <a:pPr>
              <a:spcAft>
                <a:spcPts val="100"/>
              </a:spcAft>
            </a:pPr>
            <a:r>
              <a:rPr sz="1500" dirty="0"/>
              <a:t>• </a:t>
            </a:r>
            <a:r>
              <a:rPr sz="1500" dirty="0" err="1"/>
              <a:t>трудоёмкий</a:t>
            </a:r>
            <a:r>
              <a:rPr sz="1500" dirty="0"/>
              <a:t> </a:t>
            </a:r>
            <a:r>
              <a:rPr sz="1500" dirty="0" err="1"/>
              <a:t>поиск</a:t>
            </a:r>
            <a:r>
              <a:rPr sz="1500" dirty="0"/>
              <a:t> </a:t>
            </a:r>
            <a:r>
              <a:rPr sz="1500" dirty="0" err="1"/>
              <a:t>архивных</a:t>
            </a:r>
            <a:r>
              <a:rPr sz="1500" dirty="0"/>
              <a:t> </a:t>
            </a:r>
            <a:r>
              <a:rPr sz="1500" dirty="0" err="1"/>
              <a:t>документов</a:t>
            </a:r>
            <a:r>
              <a:rPr sz="1500" dirty="0"/>
              <a:t>;</a:t>
            </a:r>
          </a:p>
          <a:p>
            <a:pPr>
              <a:spcAft>
                <a:spcPts val="100"/>
              </a:spcAft>
            </a:pPr>
            <a:r>
              <a:rPr sz="1500" dirty="0"/>
              <a:t>• </a:t>
            </a:r>
            <a:r>
              <a:rPr sz="1500" dirty="0" err="1"/>
              <a:t>ручные</a:t>
            </a:r>
            <a:r>
              <a:rPr sz="1500" dirty="0"/>
              <a:t> </a:t>
            </a:r>
            <a:r>
              <a:rPr sz="1500" dirty="0" err="1"/>
              <a:t>операции</a:t>
            </a:r>
            <a:r>
              <a:rPr sz="1500" dirty="0"/>
              <a:t> </a:t>
            </a:r>
            <a:r>
              <a:rPr sz="1500" dirty="0" err="1"/>
              <a:t>при</a:t>
            </a:r>
            <a:r>
              <a:rPr sz="1500" dirty="0"/>
              <a:t> </a:t>
            </a:r>
            <a:r>
              <a:rPr sz="1500" dirty="0" err="1"/>
              <a:t>оцифровке</a:t>
            </a:r>
            <a:r>
              <a:rPr sz="1500" dirty="0"/>
              <a:t>, </a:t>
            </a:r>
            <a:r>
              <a:rPr sz="1500" dirty="0" err="1"/>
              <a:t>маркировке</a:t>
            </a:r>
            <a:r>
              <a:rPr sz="1500" dirty="0"/>
              <a:t> и </a:t>
            </a:r>
            <a:r>
              <a:rPr sz="1500" dirty="0" err="1"/>
              <a:t>сортировке</a:t>
            </a:r>
            <a:r>
              <a:rPr sz="1500" dirty="0"/>
              <a:t>;</a:t>
            </a:r>
          </a:p>
          <a:p>
            <a:pPr>
              <a:spcAft>
                <a:spcPts val="100"/>
              </a:spcAft>
            </a:pPr>
            <a:r>
              <a:rPr sz="1500" dirty="0"/>
              <a:t>• </a:t>
            </a:r>
            <a:r>
              <a:rPr sz="1500" dirty="0" err="1"/>
              <a:t>недостаток</a:t>
            </a:r>
            <a:r>
              <a:rPr sz="1500" dirty="0"/>
              <a:t> </a:t>
            </a:r>
            <a:r>
              <a:rPr sz="1500" dirty="0" err="1"/>
              <a:t>статистики</a:t>
            </a:r>
            <a:r>
              <a:rPr sz="1500" dirty="0"/>
              <a:t> </a:t>
            </a:r>
            <a:r>
              <a:rPr sz="1500" dirty="0" err="1"/>
              <a:t>по</a:t>
            </a:r>
            <a:r>
              <a:rPr sz="1500" dirty="0"/>
              <a:t> </a:t>
            </a:r>
            <a:r>
              <a:rPr sz="1500" dirty="0" err="1"/>
              <a:t>сотрудникам</a:t>
            </a:r>
            <a:r>
              <a:rPr sz="1500" dirty="0"/>
              <a:t> и </a:t>
            </a:r>
            <a:r>
              <a:rPr sz="1500" dirty="0" err="1"/>
              <a:t>ресурсам</a:t>
            </a:r>
            <a:r>
              <a:rPr sz="1500" dirty="0"/>
              <a:t>.</a:t>
            </a:r>
          </a:p>
        </p:txBody>
      </p:sp>
      <p:sp>
        <p:nvSpPr>
          <p:cNvPr id="149" name="Google Shape;149;p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Цель и границы модели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>
            <a:spLocks noGrp="1"/>
          </p:cNvSpPr>
          <p:nvPr>
            <p:ph type="body" idx="1"/>
          </p:nvPr>
        </p:nvSpPr>
        <p:spPr>
          <a:xfrm>
            <a:off x="457200" y="963814"/>
            <a:ext cx="3635830" cy="25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sz="1200" dirty="0"/>
              <a:t>Entity и Process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r>
              <a:rPr sz="1200" dirty="0"/>
              <a:t>Entity (E) — </a:t>
            </a:r>
            <a:r>
              <a:rPr sz="1200" dirty="0" err="1"/>
              <a:t>внешний</a:t>
            </a:r>
            <a:r>
              <a:rPr sz="1200" dirty="0"/>
              <a:t> </a:t>
            </a:r>
            <a:r>
              <a:rPr sz="1200" dirty="0" err="1"/>
              <a:t>относительно</a:t>
            </a:r>
            <a:r>
              <a:rPr sz="1200" dirty="0"/>
              <a:t> АИС </a:t>
            </a:r>
            <a:r>
              <a:rPr sz="1200" dirty="0" err="1"/>
              <a:t>участник</a:t>
            </a:r>
            <a:r>
              <a:rPr sz="1200" dirty="0"/>
              <a:t>, </a:t>
            </a:r>
            <a:r>
              <a:rPr sz="1200" dirty="0" err="1"/>
              <a:t>который</a:t>
            </a:r>
            <a:r>
              <a:rPr sz="1200" dirty="0"/>
              <a:t> </a:t>
            </a:r>
            <a:r>
              <a:rPr sz="1200" dirty="0" err="1"/>
              <a:t>отправляет</a:t>
            </a:r>
            <a:r>
              <a:rPr sz="1200" dirty="0"/>
              <a:t> </a:t>
            </a:r>
            <a:r>
              <a:rPr sz="1200" dirty="0" err="1"/>
              <a:t>или</a:t>
            </a:r>
            <a:r>
              <a:rPr sz="1200" dirty="0"/>
              <a:t> </a:t>
            </a:r>
            <a:r>
              <a:rPr sz="1200" dirty="0" err="1"/>
              <a:t>получает</a:t>
            </a:r>
            <a:r>
              <a:rPr sz="1200" dirty="0"/>
              <a:t> </a:t>
            </a:r>
            <a:r>
              <a:rPr sz="1200" dirty="0" err="1"/>
              <a:t>данные</a:t>
            </a:r>
            <a:r>
              <a:rPr sz="1200" dirty="0"/>
              <a:t>.</a:t>
            </a:r>
          </a:p>
          <a:p>
            <a:pPr>
              <a:spcAft>
                <a:spcPts val="100"/>
              </a:spcAft>
            </a:pPr>
            <a:endParaRPr sz="1200" dirty="0"/>
          </a:p>
          <a:p>
            <a:pPr>
              <a:spcAft>
                <a:spcPts val="100"/>
              </a:spcAft>
            </a:pPr>
            <a:r>
              <a:rPr sz="1200" dirty="0"/>
              <a:t>Process — </a:t>
            </a:r>
            <a:r>
              <a:rPr sz="1200" dirty="0" err="1"/>
              <a:t>функция</a:t>
            </a:r>
            <a:r>
              <a:rPr sz="1200" dirty="0"/>
              <a:t> </a:t>
            </a:r>
            <a:r>
              <a:rPr sz="1200" dirty="0" err="1"/>
              <a:t>системы</a:t>
            </a:r>
            <a:r>
              <a:rPr sz="1200" dirty="0"/>
              <a:t>, </a:t>
            </a:r>
            <a:r>
              <a:rPr sz="1200" dirty="0" err="1"/>
              <a:t>преобразующая</a:t>
            </a:r>
            <a:r>
              <a:rPr sz="1200" dirty="0"/>
              <a:t> </a:t>
            </a:r>
            <a:r>
              <a:rPr sz="1200" dirty="0" err="1"/>
              <a:t>входные</a:t>
            </a:r>
            <a:r>
              <a:rPr sz="1200" dirty="0"/>
              <a:t> </a:t>
            </a:r>
            <a:r>
              <a:rPr sz="1200" dirty="0" err="1"/>
              <a:t>данные</a:t>
            </a:r>
            <a:r>
              <a:rPr sz="1200" dirty="0"/>
              <a:t> в </a:t>
            </a:r>
            <a:r>
              <a:rPr sz="1200" dirty="0" err="1"/>
              <a:t>результат</a:t>
            </a:r>
            <a:r>
              <a:rPr sz="1200" dirty="0"/>
              <a:t>.</a:t>
            </a:r>
          </a:p>
          <a:p>
            <a:pPr>
              <a:spcAft>
                <a:spcPts val="100"/>
              </a:spcAft>
            </a:pPr>
            <a:endParaRPr sz="1200" dirty="0"/>
          </a:p>
          <a:p>
            <a:pPr>
              <a:spcAft>
                <a:spcPts val="100"/>
              </a:spcAft>
            </a:pPr>
            <a:r>
              <a:rPr sz="1200" dirty="0"/>
              <a:t>В </a:t>
            </a:r>
            <a:r>
              <a:rPr sz="1200" dirty="0" err="1"/>
              <a:t>модели</a:t>
            </a:r>
            <a:r>
              <a:rPr sz="1200" dirty="0"/>
              <a:t>: E1–E7 — Entity; 1.0–6.0 — </a:t>
            </a:r>
            <a:r>
              <a:rPr sz="1200" dirty="0" err="1"/>
              <a:t>процессы</a:t>
            </a:r>
            <a:r>
              <a:rPr sz="1200" dirty="0"/>
              <a:t>.</a:t>
            </a:r>
          </a:p>
        </p:txBody>
      </p:sp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sz="2500"/>
              <a:t>Основные элементы DFD</a:t>
            </a:r>
          </a:p>
        </p:txBody>
      </p:sp>
      <p:sp>
        <p:nvSpPr>
          <p:cNvPr id="194" name="Google Shape;194;p6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825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marR="0" lvl="0" indent="-269875" algn="l" rtl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rgbClr val="002060"/>
              </a:buClr>
              <a:buSzPts val="1300"/>
              <a:buFont typeface="Noto Sans Symbols"/>
              <a:buChar char="✔"/>
            </a:pPr>
            <a:r>
              <a:rPr sz="1200"/>
              <a:t>Data Store (D) — логическое хранилище: данные записываются и затем читаются.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r>
              <a:rPr sz="1200"/>
              <a:t>Data Flow — подписанная стрелка, показывающая, какие данные передаются и в каком направлении.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Правило: один блок = один тип.</a:t>
            </a:r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Clr>
                <a:srgbClr val="8D3DB5"/>
              </a:buClr>
              <a:buSzPts val="1800"/>
              <a:buNone/>
            </a:pPr>
            <a:r>
              <a:rPr sz="1700"/>
              <a:t>Data Store и Data Flow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>
            <a:spLocks noGrp="1"/>
          </p:cNvSpPr>
          <p:nvPr>
            <p:ph type="title"/>
          </p:nvPr>
        </p:nvSpPr>
        <p:spPr>
          <a:xfrm>
            <a:off x="340242" y="290581"/>
            <a:ext cx="7064898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sz="2400"/>
              <a:t>Контекстная диаграмма A-0</a:t>
            </a:r>
          </a:p>
        </p:txBody>
      </p:sp>
      <p:sp>
        <p:nvSpPr>
          <p:cNvPr id="269" name="Google Shape;269;p13"/>
          <p:cNvSpPr txBox="1">
            <a:spLocks noGrp="1"/>
          </p:cNvSpPr>
          <p:nvPr>
            <p:ph type="body" idx="1"/>
          </p:nvPr>
        </p:nvSpPr>
        <p:spPr>
          <a:xfrm>
            <a:off x="5424241" y="1187890"/>
            <a:ext cx="273026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rgbClr val="7030A0"/>
              </a:buClr>
              <a:buSzPts val="2400"/>
              <a:buFont typeface="Noto Sans Symbols"/>
              <a:buChar char="✔"/>
            </a:pPr>
            <a:r>
              <a:rPr sz="1400" dirty="0"/>
              <a:t>A-0 </a:t>
            </a:r>
            <a:r>
              <a:rPr sz="1400" dirty="0" err="1"/>
              <a:t>показывает</a:t>
            </a:r>
            <a:r>
              <a:rPr sz="1400" dirty="0"/>
              <a:t> </a:t>
            </a:r>
            <a:r>
              <a:rPr sz="1400" dirty="0" err="1"/>
              <a:t>всю</a:t>
            </a:r>
            <a:r>
              <a:rPr sz="1400" dirty="0"/>
              <a:t> </a:t>
            </a:r>
            <a:r>
              <a:rPr sz="1400" dirty="0" err="1"/>
              <a:t>систему</a:t>
            </a:r>
            <a:r>
              <a:rPr sz="1400" dirty="0"/>
              <a:t> </a:t>
            </a:r>
            <a:r>
              <a:rPr sz="1400" dirty="0" err="1"/>
              <a:t>как</a:t>
            </a:r>
            <a:r>
              <a:rPr sz="1400" dirty="0"/>
              <a:t> </a:t>
            </a:r>
            <a:r>
              <a:rPr sz="1400" dirty="0" err="1"/>
              <a:t>один</a:t>
            </a:r>
            <a:r>
              <a:rPr sz="1400" dirty="0"/>
              <a:t> «</a:t>
            </a:r>
            <a:r>
              <a:rPr sz="1400" dirty="0" err="1"/>
              <a:t>чёрный</a:t>
            </a:r>
            <a:r>
              <a:rPr sz="1400" dirty="0"/>
              <a:t> </a:t>
            </a:r>
            <a:r>
              <a:rPr sz="1400" dirty="0" err="1"/>
              <a:t>ящик</a:t>
            </a:r>
            <a:r>
              <a:rPr sz="1400" dirty="0"/>
              <a:t>».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этом</a:t>
            </a:r>
            <a:r>
              <a:rPr sz="1400" dirty="0"/>
              <a:t> </a:t>
            </a:r>
            <a:r>
              <a:rPr sz="1400" dirty="0" err="1"/>
              <a:t>уровне</a:t>
            </a:r>
            <a:r>
              <a:rPr sz="1400" dirty="0"/>
              <a:t> </a:t>
            </a:r>
            <a:r>
              <a:rPr sz="1400" dirty="0" err="1"/>
              <a:t>видны</a:t>
            </a:r>
            <a:r>
              <a:rPr sz="1400" dirty="0"/>
              <a:t>:</a:t>
            </a:r>
          </a:p>
          <a:p>
            <a:pPr>
              <a:spcAft>
                <a:spcPts val="100"/>
              </a:spcAft>
            </a:pPr>
            <a:r>
              <a:rPr sz="1400" dirty="0"/>
              <a:t>• </a:t>
            </a:r>
            <a:r>
              <a:rPr sz="1400" dirty="0" err="1"/>
              <a:t>основной</a:t>
            </a:r>
            <a:r>
              <a:rPr sz="1400" dirty="0"/>
              <a:t> </a:t>
            </a:r>
            <a:r>
              <a:rPr sz="1400" dirty="0" err="1"/>
              <a:t>процесс</a:t>
            </a:r>
            <a:r>
              <a:rPr sz="1400" dirty="0"/>
              <a:t> АИС;</a:t>
            </a:r>
          </a:p>
          <a:p>
            <a:pPr>
              <a:spcAft>
                <a:spcPts val="100"/>
              </a:spcAft>
            </a:pPr>
            <a:r>
              <a:rPr sz="1400" dirty="0"/>
              <a:t>• 7 </a:t>
            </a:r>
            <a:r>
              <a:rPr sz="1400" dirty="0" err="1"/>
              <a:t>внешних</a:t>
            </a:r>
            <a:r>
              <a:rPr sz="1400" dirty="0"/>
              <a:t> </a:t>
            </a:r>
            <a:r>
              <a:rPr sz="1400" dirty="0" err="1"/>
              <a:t>сущностей</a:t>
            </a:r>
            <a:r>
              <a:rPr sz="1400" dirty="0"/>
              <a:t> E1–E7;</a:t>
            </a:r>
          </a:p>
          <a:p>
            <a:pPr>
              <a:spcAft>
                <a:spcPts val="100"/>
              </a:spcAft>
            </a:pPr>
            <a:r>
              <a:rPr sz="1400" dirty="0"/>
              <a:t>• </a:t>
            </a:r>
            <a:r>
              <a:rPr sz="1400" dirty="0" err="1"/>
              <a:t>входящие</a:t>
            </a:r>
            <a:r>
              <a:rPr sz="1400" dirty="0"/>
              <a:t> и </a:t>
            </a:r>
            <a:r>
              <a:rPr sz="1400" dirty="0" err="1"/>
              <a:t>исходящие</a:t>
            </a:r>
            <a:r>
              <a:rPr sz="1400" dirty="0"/>
              <a:t> </a:t>
            </a:r>
            <a:r>
              <a:rPr sz="1400" dirty="0" err="1"/>
              <a:t>потоки</a:t>
            </a:r>
            <a:r>
              <a:rPr sz="1400" dirty="0"/>
              <a:t> </a:t>
            </a:r>
            <a:r>
              <a:rPr sz="1400" dirty="0" err="1"/>
              <a:t>данных</a:t>
            </a:r>
            <a:r>
              <a:rPr sz="1400" dirty="0"/>
              <a:t>.</a:t>
            </a:r>
          </a:p>
          <a:p>
            <a:pPr>
              <a:spcAft>
                <a:spcPts val="100"/>
              </a:spcAft>
            </a:pPr>
            <a:endParaRPr sz="1400" dirty="0"/>
          </a:p>
          <a:p>
            <a:pPr>
              <a:spcAft>
                <a:spcPts val="100"/>
              </a:spcAft>
            </a:pPr>
            <a:r>
              <a:rPr sz="1400" dirty="0" err="1"/>
              <a:t>Внутренние</a:t>
            </a:r>
            <a:r>
              <a:rPr sz="1400" dirty="0"/>
              <a:t> </a:t>
            </a:r>
            <a:r>
              <a:rPr sz="1400" dirty="0" err="1"/>
              <a:t>процессы</a:t>
            </a:r>
            <a:r>
              <a:rPr sz="1400" dirty="0"/>
              <a:t> и </a:t>
            </a:r>
            <a:r>
              <a:rPr sz="1400" dirty="0" err="1"/>
              <a:t>накопители</a:t>
            </a:r>
            <a:r>
              <a:rPr sz="1400" dirty="0"/>
              <a:t> D1–D5 </a:t>
            </a:r>
            <a:r>
              <a:rPr sz="1400" dirty="0" err="1"/>
              <a:t>здесь</a:t>
            </a:r>
            <a:r>
              <a:rPr sz="1400" dirty="0"/>
              <a:t> </a:t>
            </a:r>
            <a:r>
              <a:rPr sz="1400" dirty="0" err="1"/>
              <a:t>ещё</a:t>
            </a:r>
            <a:r>
              <a:rPr sz="1400" dirty="0"/>
              <a:t>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показываются</a:t>
            </a:r>
            <a:r>
              <a:rPr sz="1400" dirty="0"/>
              <a:t>.</a:t>
            </a:r>
          </a:p>
        </p:txBody>
      </p:sp>
      <p:pic>
        <p:nvPicPr>
          <p:cNvPr id="270" name="Picture 269" descr="А-0 ori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139" y="1153886"/>
            <a:ext cx="2569650" cy="3493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>
            <a:spLocks noGrp="1"/>
          </p:cNvSpPr>
          <p:nvPr>
            <p:ph type="title"/>
          </p:nvPr>
        </p:nvSpPr>
        <p:spPr>
          <a:xfrm>
            <a:off x="247337" y="290581"/>
            <a:ext cx="715780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sz="2200"/>
              <a:t>Декомпозиция A0: из чего состоит система</a:t>
            </a:r>
          </a:p>
        </p:txBody>
      </p:sp>
      <p:sp>
        <p:nvSpPr>
          <p:cNvPr id="293" name="Google Shape;293;p16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rgbClr val="7030A0"/>
              </a:buClr>
              <a:buSzPts val="2100"/>
              <a:buFont typeface="Noto Sans Symbols"/>
              <a:buChar char="✔"/>
            </a:pPr>
            <a:r>
              <a:rPr sz="1200"/>
              <a:t>На A0 единый процесс A-0 раскрывается на 6 процессов: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r>
              <a:rPr sz="1200"/>
              <a:t>1.0 — заявка и требования</a:t>
            </a:r>
          </a:p>
          <a:p>
            <a:pPr>
              <a:spcAft>
                <a:spcPts val="100"/>
              </a:spcAft>
            </a:pPr>
            <a:r>
              <a:rPr sz="1200"/>
              <a:t>2.0 — расчёт стоимости</a:t>
            </a:r>
          </a:p>
          <a:p>
            <a:pPr>
              <a:spcAft>
                <a:spcPts val="100"/>
              </a:spcAft>
            </a:pPr>
            <a:r>
              <a:rPr sz="1200"/>
              <a:t>3.0 — договор и оплата</a:t>
            </a:r>
          </a:p>
          <a:p>
            <a:pPr>
              <a:spcAft>
                <a:spcPts val="100"/>
              </a:spcAft>
            </a:pPr>
            <a:r>
              <a:rPr sz="1200"/>
              <a:t>4.0 — обработка и оцифровка</a:t>
            </a:r>
          </a:p>
          <a:p>
            <a:pPr>
              <a:spcAft>
                <a:spcPts val="100"/>
              </a:spcAft>
            </a:pPr>
            <a:r>
              <a:rPr sz="1200"/>
              <a:t>5.0 — хранение и поиск</a:t>
            </a:r>
          </a:p>
          <a:p>
            <a:pPr>
              <a:spcAft>
                <a:spcPts val="100"/>
              </a:spcAft>
            </a:pPr>
            <a:r>
              <a:rPr sz="1200"/>
              <a:t>6.0 — контроль сроков и аналитика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Здесь же появляются внутренние накопители D1–D5.</a:t>
            </a:r>
          </a:p>
        </p:txBody>
      </p:sp>
      <p:pic>
        <p:nvPicPr>
          <p:cNvPr id="294" name="Picture 293" descr="a0 dfd детализированная ori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72" y="1521271"/>
            <a:ext cx="4030255" cy="2625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body" idx="1"/>
          </p:nvPr>
        </p:nvSpPr>
        <p:spPr>
          <a:xfrm>
            <a:off x="616688" y="1268817"/>
            <a:ext cx="7272669" cy="319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200"/>
              <a:t>D1 Заказы и заказчики — заявки, требования, контакты, статус.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00"/>
              </a:spcAft>
            </a:pPr>
            <a:r>
              <a:rPr sz="1200"/>
              <a:t>D2 Сметы, КП, договоры — расчёты, планы, КП, договоры, оплата.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D3 Реестр документов и цифровые копии — идентификаторы, атрибуты, образы, метаданные.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D4 Архивные единицы и места хранения — размещение, сроки, перемещения.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D5 Журнал этапов, сроков и работы сотрудников — даты, этапы, исполнители, объём работ.</a:t>
            </a:r>
          </a:p>
          <a:p>
            <a:pPr>
              <a:spcAft>
                <a:spcPts val="100"/>
              </a:spcAft>
            </a:pPr>
            <a:endParaRPr sz="1200"/>
          </a:p>
          <a:p>
            <a:pPr>
              <a:spcAft>
                <a:spcPts val="100"/>
              </a:spcAft>
            </a:pPr>
            <a:r>
              <a:rPr sz="1200"/>
              <a:t>Каждый накопитель имеет запись и последующее чтение.</a:t>
            </a:r>
          </a:p>
        </p:txBody>
      </p:sp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Накопители данных D1–D5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 txBox="1">
            <a:spLocks noGrp="1"/>
          </p:cNvSpPr>
          <p:nvPr>
            <p:ph type="body" idx="1"/>
          </p:nvPr>
        </p:nvSpPr>
        <p:spPr>
          <a:xfrm>
            <a:off x="637953" y="1159791"/>
            <a:ext cx="7655442" cy="33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385" name="Google Shape;385;p2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2100"/>
              <a:t>Декомпозиция A1: процесс 1.0 «Управлять заявкой и требованиями»</a:t>
            </a:r>
          </a:p>
        </p:txBody>
      </p:sp>
      <p:pic>
        <p:nvPicPr>
          <p:cNvPr id="386" name="Picture 385" descr="A1 Декомпозированная ori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06354"/>
            <a:ext cx="7818120" cy="2481667"/>
          </a:xfrm>
          <a:prstGeom prst="rect">
            <a:avLst/>
          </a:prstGeom>
        </p:spPr>
      </p:pic>
      <p:sp>
        <p:nvSpPr>
          <p:cNvPr id="387" name="TextBox 386"/>
          <p:cNvSpPr txBox="1"/>
          <p:nvPr/>
        </p:nvSpPr>
        <p:spPr>
          <a:xfrm>
            <a:off x="777240" y="4005072"/>
            <a:ext cx="7543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14141"/>
                </a:solidFill>
                <a:latin typeface="Golos Text"/>
              </a:rPr>
              <a:t>1.1 Регистрация → 1.2 Фиксация требований → 1.3 Подготовка → 1.4 Решение директора → 1.5 Результат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577776" y="4221820"/>
            <a:ext cx="57038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 err="1">
                <a:solidFill>
                  <a:srgbClr val="414141"/>
                </a:solidFill>
                <a:latin typeface="Golos Text"/>
              </a:rPr>
              <a:t>Баланс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A0 ↔ A1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сохраняет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внешние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потоки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процесса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1.0: «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Заявка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», «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Регистрация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», «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Решение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», </a:t>
            </a:r>
            <a:endParaRPr lang="ru-RU" sz="900" dirty="0">
              <a:solidFill>
                <a:srgbClr val="414141"/>
              </a:solidFill>
              <a:latin typeface="Golos Text"/>
            </a:endParaRPr>
          </a:p>
          <a:p>
            <a:pPr algn="ctr"/>
            <a:r>
              <a:rPr sz="900" dirty="0">
                <a:solidFill>
                  <a:srgbClr val="414141"/>
                </a:solidFill>
                <a:latin typeface="Golos Text"/>
              </a:rPr>
              <a:t>«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Решение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по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заявке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»,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запись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в D1 и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выход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«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Детали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принятого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 </a:t>
            </a:r>
            <a:r>
              <a:rPr sz="900" dirty="0" err="1">
                <a:solidFill>
                  <a:srgbClr val="414141"/>
                </a:solidFill>
                <a:latin typeface="Golos Text"/>
              </a:rPr>
              <a:t>заказа</a:t>
            </a:r>
            <a:r>
              <a:rPr sz="900" dirty="0">
                <a:solidFill>
                  <a:srgbClr val="414141"/>
                </a:solidFill>
                <a:latin typeface="Golos Text"/>
              </a:rPr>
              <a:t>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1950" lvl="0" indent="-361950" algn="l" rtl="0">
              <a:spcBef>
                <a:spcPts val="0"/>
              </a:spcBef>
              <a:spcAft>
                <a:spcPts val="100"/>
              </a:spcAft>
              <a:buClr>
                <a:srgbClr val="7030A0"/>
              </a:buClr>
              <a:buSzPts val="2400"/>
              <a:buFont typeface="Calibri"/>
              <a:buAutoNum type="arabicPeriod"/>
            </a:pPr>
            <a:r>
              <a:rPr sz="1300"/>
              <a:t>• Балансировка A-0 ↔ A0: внешние входы и выходы не исчезают и не появляются из ниоткуда.</a:t>
            </a:r>
            <a:endParaRPr/>
          </a:p>
          <a:p>
            <a:pPr>
              <a:spcAft>
                <a:spcPts val="100"/>
              </a:spcAft>
            </a:pPr>
            <a:r>
              <a:rPr sz="1300"/>
              <a:t>• Балансировка A0 ↔ A1: декомпозиция 1.0 сохраняет его внешние взаимодействия.</a:t>
            </a:r>
          </a:p>
          <a:p>
            <a:pPr>
              <a:spcAft>
                <a:spcPts val="100"/>
              </a:spcAft>
            </a:pPr>
            <a:r>
              <a:rPr sz="1300"/>
              <a:t>• Каждый блок относится только к одному типу: Entity, Process или Data Store.</a:t>
            </a:r>
          </a:p>
          <a:p>
            <a:pPr>
              <a:spcAft>
                <a:spcPts val="100"/>
              </a:spcAft>
            </a:pPr>
            <a:r>
              <a:rPr sz="1300"/>
              <a:t>• Прямых потоков между внешними сущностями нет.</a:t>
            </a:r>
          </a:p>
          <a:p>
            <a:pPr>
              <a:spcAft>
                <a:spcPts val="100"/>
              </a:spcAft>
            </a:pPr>
            <a:r>
              <a:rPr sz="1300"/>
              <a:t>• Стрелки описывают данные, а не физическое перемещение документов.</a:t>
            </a:r>
          </a:p>
          <a:p>
            <a:pPr>
              <a:spcAft>
                <a:spcPts val="100"/>
              </a:spcAft>
            </a:pPr>
            <a:r>
              <a:rPr sz="1300"/>
              <a:t>• Процессы названы действиями.</a:t>
            </a:r>
          </a:p>
          <a:p>
            <a:pPr>
              <a:spcAft>
                <a:spcPts val="100"/>
              </a:spcAft>
            </a:pPr>
            <a:r>
              <a:rPr sz="1300"/>
              <a:t>• D1–D5 имеют входящую запись и последующее чтение.</a:t>
            </a:r>
          </a:p>
        </p:txBody>
      </p:sp>
      <p:sp>
        <p:nvSpPr>
          <p:cNvPr id="143" name="Google Shape;143;p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Проверка корректности модели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>
            <a:spLocks noGrp="1"/>
          </p:cNvSpPr>
          <p:nvPr>
            <p:ph type="title"/>
          </p:nvPr>
        </p:nvSpPr>
        <p:spPr>
          <a:xfrm>
            <a:off x="457200" y="2159622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dirty="0" err="1"/>
              <a:t>Спасибо</a:t>
            </a:r>
            <a:endParaRPr dirty="0"/>
          </a:p>
          <a:p>
            <a:pPr algn="ctr"/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</p:txBody>
      </p:sp>
      <p:sp>
        <p:nvSpPr>
          <p:cNvPr id="398" name="Google Shape;398;p29"/>
          <p:cNvSpPr txBox="1"/>
          <p:nvPr/>
        </p:nvSpPr>
        <p:spPr>
          <a:xfrm>
            <a:off x="6133701" y="4468762"/>
            <a:ext cx="26611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On-screen Show (16:9)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Noto Sans Symbols</vt:lpstr>
      <vt:lpstr>Arial</vt:lpstr>
      <vt:lpstr>Golos Text SemiBold</vt:lpstr>
      <vt:lpstr>Calibri</vt:lpstr>
      <vt:lpstr>Golos Text</vt:lpstr>
      <vt:lpstr>Тема1</vt:lpstr>
      <vt:lpstr>Лабораторная работа №1 Функциональная DFD-модель корпоративной АИС</vt:lpstr>
      <vt:lpstr>Цель и границы модели</vt:lpstr>
      <vt:lpstr>Основные элементы DFD</vt:lpstr>
      <vt:lpstr>Контекстная диаграмма A-0</vt:lpstr>
      <vt:lpstr>Декомпозиция A0: из чего состоит система</vt:lpstr>
      <vt:lpstr>Накопители данных D1–D5</vt:lpstr>
      <vt:lpstr>Декомпозиция A1: процесс 1.0 «Управлять заявкой и требованиями»</vt:lpstr>
      <vt:lpstr>Проверка корректности модели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</dc:creator>
  <cp:lastModifiedBy>Денис Пожидаев</cp:lastModifiedBy>
  <cp:revision>1</cp:revision>
  <dcterms:created xsi:type="dcterms:W3CDTF">2014-06-27T12:30:22Z</dcterms:created>
  <dcterms:modified xsi:type="dcterms:W3CDTF">2026-10-02T07:29:37Z</dcterms:modified>
</cp:coreProperties>
</file>