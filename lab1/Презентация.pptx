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5B8A"/>
          </a:solidFill>
          <a:ln w="12700">
            <a:solidFill>
              <a:srgbClr val="315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ЛР №1 • Вариант 7 • ООО «Архив Кнопка»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6510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Пожидаев Денис • К3140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11018520" cy="5230368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  <a:effectLst>
            <a:outerShdw sx="100000" sy="100000" kx="0" ky="0" algn="bl" rotWithShape="0" blurRad="25400" dist="50800" dir="2700000">
              <a:srgbClr val="B8C2CC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68680" y="1115568"/>
            <a:ext cx="1371600" cy="347472"/>
          </a:xfrm>
          <a:prstGeom prst="roundRect">
            <a:avLst>
              <a:gd name="adj" fmla="val 47368"/>
            </a:avLst>
          </a:prstGeom>
          <a:solidFill>
            <a:srgbClr val="315B8A"/>
          </a:solidFill>
          <a:ln w="12700">
            <a:solidFill>
              <a:srgbClr val="315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18872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ВАРИАНТ 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35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Функциональная DFD-модель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F35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корпоративной АИС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68680" y="31272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5B8A"/>
                </a:solidFill>
              </a:rPr>
              <a:t>Автоматизация архивных процессов ООО «Архив Кнопка»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04164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Лабораторная работа №1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по дисциплине «Проектирование и реализация баз данных»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498348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Пожидаев Денис Александрович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Группа К3140, МСТ К25 1.1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Преподаватель: Говорова М.М.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3800" y="132588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EAF1F8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572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550"/>
                </a:solidFill>
              </a:rPr>
              <a:t>A-0  Контекст системы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823960" y="2221992"/>
            <a:ext cx="502920" cy="457200"/>
          </a:xfrm>
          <a:prstGeom prst="chevron">
            <a:avLst/>
          </a:prstGeom>
          <a:solidFill>
            <a:srgbClr val="B8CBE0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278892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EAF1F8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9248" y="3035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1F3550"/>
                </a:solidFill>
              </a:rPr>
              <a:t>A0  6 основных процессов</a:t>
            </a:r>
            <a:endParaRPr lang="en-US" sz="1630" dirty="0"/>
          </a:p>
        </p:txBody>
      </p:sp>
      <p:sp>
        <p:nvSpPr>
          <p:cNvPr id="14" name="Shape 12"/>
          <p:cNvSpPr/>
          <p:nvPr/>
        </p:nvSpPr>
        <p:spPr>
          <a:xfrm>
            <a:off x="8823960" y="3685032"/>
            <a:ext cx="502920" cy="457200"/>
          </a:xfrm>
          <a:prstGeom prst="chevron">
            <a:avLst/>
          </a:prstGeom>
          <a:solidFill>
            <a:srgbClr val="B8CBE0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425196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EAF1F8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44988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550"/>
                </a:solidFill>
              </a:rPr>
              <a:t>A1  Декомпозиция 1.0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5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Задача и границы модели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именно автоматизируется и зачем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493008" cy="416052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" cy="41605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0"/>
                </a:solidFill>
              </a:rPr>
              <a:t>Проблемы предметной области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856232"/>
            <a:ext cx="314553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дублирование и несвоевременная передача информации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ручной контроль сроков исполнения и хранения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трудоёмкий поиск архивных документов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ручные операции при оцифровке, маркировке и сортировке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недостаток статистики по сотрудникам и ресурсам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493008" cy="416052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325880"/>
            <a:ext cx="54864" cy="4160520"/>
          </a:xfrm>
          <a:prstGeom prst="rect">
            <a:avLst/>
          </a:prstGeom>
          <a:solidFill>
            <a:srgbClr val="315B8A"/>
          </a:solidFill>
          <a:ln w="12700">
            <a:solidFill>
              <a:srgbClr val="31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90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0"/>
                </a:solidFill>
              </a:rPr>
              <a:t>Граница бизнес-процесса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1856232"/>
            <a:ext cx="314553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От поступления заявки клиента до полного выполнения архивной услуги.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В модели рассматриваются: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расчёт стоимости и коммерческое предложение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договор и оплата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оцифровка и метаданные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хранение и поиск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контроль сроков и аналитика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493008" cy="416052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325880"/>
            <a:ext cx="54864" cy="4160520"/>
          </a:xfrm>
          <a:prstGeom prst="rect">
            <a:avLst/>
          </a:prstGeom>
          <a:solidFill>
            <a:srgbClr val="2E7D66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490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0"/>
                </a:solidFill>
              </a:rPr>
              <a:t>Результат автоматизации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1856232"/>
            <a:ext cx="314553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Единое информационное пространство для заказа и архива.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Система должна обеспечить: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прозрачные статусы заказа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цифровой репозиторий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учёт мест и сроков хранения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предупреждения об окончании срока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аналитические отчёты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868680" y="57424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3550"/>
                </a:solidFill>
              </a:rPr>
              <a:t>Ключевой принцип DFD: на диаграммах показаны информационные потоки, а не физическое перемещение документов.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5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Контекстная DFD A-0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 как один процесс и её внешнее окружение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36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550"/>
                </a:solidFill>
              </a:rPr>
              <a:t>7 внешних сущностей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E1  Заказчик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E2  Диспетчер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E3  Генеральный директор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E4  Отдел расчётов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E5  Бухгалтерия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E6  Юрист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E7  Сотрудники сканирования и архива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4297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5B8A"/>
                </a:solidFill>
              </a:rPr>
              <a:t>Балансировка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64515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</a:rPr>
              <a:t>Все внешние входы и выходы A-0 далее распределяются между процессами уровня A0 без появления новых независимых внешних взаимодействий.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462272" y="1234440"/>
            <a:ext cx="7178040" cy="4892040"/>
          </a:xfrm>
          <a:prstGeom prst="roundRect">
            <a:avLst>
              <a:gd name="adj" fmla="val 1495"/>
            </a:avLst>
          </a:prstGeom>
          <a:solidFill>
            <a:srgbClr val="111111"/>
          </a:solidFill>
          <a:ln w="12700">
            <a:solidFill>
              <a:srgbClr val="2B4C70"/>
            </a:solidFill>
            <a:prstDash val="solid"/>
          </a:ln>
        </p:spPr>
      </p:sp>
      <p:pic>
        <p:nvPicPr>
          <p:cNvPr id="10" name="Image 0" descr="/mnt/data/А-0.drawio 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1417320"/>
            <a:ext cx="6812280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5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Декомпозиция A0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Шесть процессов, пять хранилищ и сквозной путь заказа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64240" cy="4983480"/>
          </a:xfrm>
          <a:prstGeom prst="roundRect">
            <a:avLst>
              <a:gd name="adj" fmla="val 1468"/>
            </a:avLst>
          </a:prstGeom>
          <a:solidFill>
            <a:srgbClr val="111111"/>
          </a:solidFill>
          <a:ln w="12700">
            <a:solidFill>
              <a:srgbClr val="2B4C70"/>
            </a:solidFill>
            <a:prstDash val="solid"/>
          </a:ln>
        </p:spPr>
      </p:sp>
      <p:pic>
        <p:nvPicPr>
          <p:cNvPr id="5" name="Image 0" descr="/mnt/data/a0 dfd детализированная.drawio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53312"/>
            <a:ext cx="10698480" cy="4498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5504688"/>
            <a:ext cx="10424160" cy="475488"/>
          </a:xfrm>
          <a:prstGeom prst="roundRect">
            <a:avLst>
              <a:gd name="adj" fmla="val 15385"/>
            </a:avLst>
          </a:prstGeom>
          <a:solidFill>
            <a:srgbClr val="F7F9FC">
              <a:alpha val="95000"/>
            </a:srgbClr>
          </a:solidFill>
          <a:ln w="12700">
            <a:solidFill>
              <a:srgbClr val="C7D4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565099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3550"/>
                </a:solidFill>
              </a:rPr>
              <a:t>1.0 Заявка  →  2.0 Расчёт  →  3.0 Договор и оплата  →  4.0 Оцифровка  →  5.0 Хранение и поиск  |  6.0 Контроль и аналитика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5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Декомпозиция A1 и данные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Детализация процесса 1.0 «Управлять заявкой и требованиями»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16152"/>
            <a:ext cx="7406640" cy="4069080"/>
          </a:xfrm>
          <a:prstGeom prst="roundRect">
            <a:avLst>
              <a:gd name="adj" fmla="val 1798"/>
            </a:avLst>
          </a:prstGeom>
          <a:solidFill>
            <a:srgbClr val="111111"/>
          </a:solidFill>
          <a:ln w="12700">
            <a:solidFill>
              <a:srgbClr val="2B4C70"/>
            </a:solidFill>
            <a:prstDash val="solid"/>
          </a:ln>
        </p:spPr>
      </p:sp>
      <p:pic>
        <p:nvPicPr>
          <p:cNvPr id="5" name="Image 0" descr="/mnt/data/A1_report_corr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708660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11312" y="1216152"/>
            <a:ext cx="340156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11312" y="1216152"/>
            <a:ext cx="54864" cy="1847088"/>
          </a:xfrm>
          <a:prstGeom prst="rect">
            <a:avLst/>
          </a:prstGeom>
          <a:solidFill>
            <a:srgbClr val="315B8A"/>
          </a:solidFill>
          <a:ln w="12700">
            <a:solidFill>
              <a:srgbClr val="315B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3807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0"/>
                </a:solidFill>
              </a:rPr>
              <a:t>A1: 5 подпроцессов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0" y="1746504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1.1 Регистрация заявки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1.2 Фиксация требований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1.3 Подготовка к рассмотрению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1.4 Обработка решения директора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1.5 Формирование результата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8211312" y="3273552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11312" y="3273552"/>
            <a:ext cx="54864" cy="2011680"/>
          </a:xfrm>
          <a:prstGeom prst="rect">
            <a:avLst/>
          </a:prstGeom>
          <a:solidFill>
            <a:srgbClr val="2E7D66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3438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0"/>
                </a:solidFill>
              </a:rPr>
              <a:t>Хранилища D1–D5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12480" y="3803904"/>
            <a:ext cx="30540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D1 Заказы и заказчики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D2 Сметы, КП, договоры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D3 Реестр и цифровые копии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D4 Архивные единицы и места хранения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D5 Этапы, сроки и работа сотрудников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914400" y="562356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550"/>
                </a:solidFill>
              </a:rPr>
              <a:t>Правило модели: каждое хранилище имеет входящие записи и используется последующими процессами или аналитикой.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5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получено и почему модель можно считать корректной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361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15B8A"/>
                </a:solidFill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</a:rPr>
              <a:t>уровня модели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A-0, A0, A1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371600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5361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15B8A"/>
                </a:solidFill>
              </a:rPr>
              <a:t>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89120" y="15544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</a:rPr>
              <a:t>внешних сущностей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9659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E1–E7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371600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5361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15B8A"/>
                </a:solidFill>
              </a:rPr>
              <a:t>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223760" y="15544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</a:rPr>
              <a:t>процессов A0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19659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1.0–6.0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371600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54312" y="153619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15B8A"/>
                </a:solidFill>
              </a:rPr>
              <a:t>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0058400" y="15544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</a:rPr>
              <a:t>хранилищ данных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0" y="19659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D1–D5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54132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063240"/>
            <a:ext cx="54864" cy="2468880"/>
          </a:xfrm>
          <a:prstGeom prst="rect">
            <a:avLst/>
          </a:prstGeom>
          <a:solidFill>
            <a:srgbClr val="2E7D66"/>
          </a:solidFill>
          <a:ln w="12700">
            <a:solidFill>
              <a:srgbClr val="2E7D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227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0"/>
                </a:solidFill>
              </a:rPr>
              <a:t>Проверка корректности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" y="3593592"/>
            <a:ext cx="50657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внешние потоки A-0 сбалансированы с A0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каждый блок относится только к одному типу: Entity, Process или Data Store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прямых потоков между внешними сущностями нет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материальные перемещения не моделируются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• хранилища не изолированы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6355080" y="3063240"/>
            <a:ext cx="513892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063240"/>
            <a:ext cx="54864" cy="2468880"/>
          </a:xfrm>
          <a:prstGeom prst="rect">
            <a:avLst/>
          </a:prstGeom>
          <a:solidFill>
            <a:srgbClr val="315B8A"/>
          </a:solidFill>
          <a:ln w="12700">
            <a:solidFill>
              <a:srgbClr val="315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3227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0"/>
                </a:solidFill>
              </a:rPr>
              <a:t>Практический результат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56248" y="3593592"/>
            <a:ext cx="47914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Модель описывает путь заказа от заявки до выполнения услуги и закрывает ключевые проблемы предметной области: контроль сроков, поиск, оцифровку, маркировку, статистику и предупреждения по хранению.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3611880" y="58338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550"/>
                </a:solidFill>
              </a:rPr>
              <a:t>Спасибо! Готов ответить на вопросы.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ИТМО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Функциональная DFD-модель корпоративной АИС ООО «Архив Кнопка»</dc:title>
  <dc:subject>Лабораторная работа №1, вариант 7</dc:subject>
  <dc:creator>Пожидаев Денис Александрович</dc:creator>
  <cp:lastModifiedBy>Пожидаев Денис Александрович</cp:lastModifiedBy>
  <cp:revision>1</cp:revision>
  <dcterms:created xsi:type="dcterms:W3CDTF">2026-10-01T13:01:21Z</dcterms:created>
  <dcterms:modified xsi:type="dcterms:W3CDTF">2026-10-01T13:01:21Z</dcterms:modified>
</cp:coreProperties>
</file>