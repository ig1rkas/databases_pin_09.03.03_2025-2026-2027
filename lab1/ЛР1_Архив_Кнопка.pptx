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nbag_like_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83480" y="150876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788920"/>
            <a:ext cx="7772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Разработка функциональной модели</a:t>
            </a:r>
            <a:br/>
            <a:r>
              <a:rPr sz="2600" b="1">
                <a:solidFill>
                  <a:srgbClr val="FFFFFF"/>
                </a:solidFill>
                <a:latin typeface="Arial"/>
              </a:rPr>
              <a:t>автоматизированной информационной</a:t>
            </a:r>
            <a:br/>
            <a:r>
              <a:rPr sz="2600" b="1">
                <a:solidFill>
                  <a:srgbClr val="FFFFFF"/>
                </a:solidFill>
                <a:latin typeface="Arial"/>
              </a:rPr>
              <a:t>системы компании «Архив Кнопка»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5394960"/>
            <a:ext cx="6217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Выполнил: Пожидаев Денис Александрович, группа К3140, поток 1.1</a:t>
            </a:r>
            <a:br/>
            <a:r>
              <a:rPr sz="1400" b="0">
                <a:solidFill>
                  <a:srgbClr val="FFFFFF"/>
                </a:solidFill>
                <a:latin typeface="Arial"/>
              </a:rPr>
              <a:t>Преподаватель: Говорова Марина Михайловна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Предметная область проекта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65960"/>
            <a:ext cx="10561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Сфера деятельности: </a:t>
            </a:r>
            <a:r>
              <a:rPr sz="1800">
                <a:solidFill>
                  <a:srgbClr val="191919"/>
                </a:solidFill>
                <a:latin typeface="Arial"/>
              </a:rPr>
              <a:t>Архивные услуги: работа с бумажными и электронными архивами заказчиков, оцифровка, хранение и поиск документов.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Ключевые роли: </a:t>
            </a:r>
            <a:r>
              <a:rPr sz="1800">
                <a:solidFill>
                  <a:srgbClr val="191919"/>
                </a:solidFill>
                <a:latin typeface="Arial"/>
              </a:rPr>
              <a:t>Заказчик, диспетчер, генеральный директор, отдел расчётов, бухгалтерия, юрист, сотрудники сканирования и архива.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Проблема: </a:t>
            </a:r>
            <a:r>
              <a:rPr sz="1800">
                <a:solidFill>
                  <a:srgbClr val="191919"/>
                </a:solidFill>
                <a:latin typeface="Arial"/>
              </a:rPr>
              <a:t>Разрозненная передача информации, ручной контроль сроков, трудоёмкий поиск документов, дублирование данных и недостаток аналитики.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Решение: </a:t>
            </a:r>
            <a:r>
              <a:rPr sz="1800">
                <a:solidFill>
                  <a:srgbClr val="191919"/>
                </a:solidFill>
                <a:latin typeface="Arial"/>
              </a:rPr>
              <a:t>Проектирование корпоративной АИС для сопровождения заказа от заявки до хранения, поиска и аналитической отчётности.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Цель и задачи проекта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83080"/>
            <a:ext cx="10561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Цель: </a:t>
            </a:r>
            <a:r>
              <a:rPr sz="1800">
                <a:solidFill>
                  <a:srgbClr val="191919"/>
                </a:solidFill>
                <a:latin typeface="Arial"/>
              </a:rPr>
              <a:t>Создание функциональной модели потоков данных (DFD) для автоматизации архивных бизнес-процессов ООО «Архив Кнопка».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Задачи: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71800"/>
            <a:ext cx="10241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91919"/>
                </a:solidFill>
                <a:latin typeface="Arial"/>
              </a:rPr>
              <a:t>1. Очертить внешние границы и интерфейсы системы.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2. Построить контекстную диаграмму A-0.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3. Выполнить декомпозицию системы на уровне A0 с выделением накопителей данных.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4. Выполнить декомпозицию процесса 1.0 на уровне A1.</a:t>
            </a:r>
            <a:br/>
            <a:r>
              <a:rPr sz="1700" b="0">
                <a:solidFill>
                  <a:srgbClr val="191919"/>
                </a:solidFill>
                <a:latin typeface="Arial"/>
              </a:rPr>
              <a:t>5. Составить матрицу событий и проверить балансировку потоков.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Методология проектирования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28800"/>
            <a:ext cx="10561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Методология: </a:t>
            </a:r>
            <a:r>
              <a:rPr sz="1800">
                <a:solidFill>
                  <a:srgbClr val="191919"/>
                </a:solidFill>
                <a:latin typeface="Arial"/>
              </a:rPr>
              <a:t>Структурный системный анализ — диаграммы потоков данных (DFD).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Нотация: </a:t>
            </a:r>
            <a:r>
              <a:rPr sz="1800">
                <a:solidFill>
                  <a:srgbClr val="191919"/>
                </a:solidFill>
                <a:latin typeface="Arial"/>
              </a:rPr>
              <a:t>Гейна–Сарсона (Gane–Sarson).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Инструментальное CASE-средство: </a:t>
            </a:r>
            <a:r>
              <a:rPr sz="1800">
                <a:solidFill>
                  <a:srgbClr val="191919"/>
                </a:solidFill>
                <a:latin typeface="Arial"/>
              </a:rPr>
              <a:t>Draw.io.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Базовые правила: </a:t>
            </a:r>
            <a:r>
              <a:rPr sz="1800">
                <a:solidFill>
                  <a:srgbClr val="191919"/>
                </a:solidFill>
                <a:latin typeface="Arial"/>
              </a:rPr>
              <a:t>Балансировка уровней, иерархическая декомпозиция, сплошные информационные потоки, один тип для каждого блока.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91919"/>
                </a:solidFill>
                <a:latin typeface="Arial"/>
              </a:rPr>
              <a:t>Особенность A0: </a:t>
            </a:r>
            <a:r>
              <a:rPr sz="1800">
                <a:solidFill>
                  <a:srgbClr val="191919"/>
                </a:solidFill>
                <a:latin typeface="Arial"/>
              </a:rPr>
              <a:t>Процессы передают результаты следующим процессам через накопители данных D1–D5.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Контекстная диаграмма уровня A-0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pic>
        <p:nvPicPr>
          <p:cNvPr id="15" name="Picture 14" descr="А-0.drawio (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714" y="1600200"/>
            <a:ext cx="3266091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Диаграмма декомпозиции уровня A0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pic>
        <p:nvPicPr>
          <p:cNvPr id="15" name="Picture 14" descr="a0 dfd детализированная.drawio (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59" y="1572768"/>
            <a:ext cx="6948601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Декомпозиция процесса 1.0 — уровень A1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pic>
        <p:nvPicPr>
          <p:cNvPr id="15" name="Picture 14" descr="A1 Декомпозированная.drawio 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91594"/>
            <a:ext cx="11064240" cy="4143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Накопители данных и логика передачи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645920"/>
            <a:ext cx="10607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91919"/>
                </a:solidFill>
                <a:latin typeface="Arial"/>
              </a:rPr>
              <a:t>D1 — Заказы и заказчики: </a:t>
            </a:r>
            <a:r>
              <a:rPr sz="1600">
                <a:solidFill>
                  <a:srgbClr val="191919"/>
                </a:solidFill>
                <a:latin typeface="Arial"/>
              </a:rPr>
              <a:t>карточки заявок, требования, решения и общий статус заказа.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1919"/>
                </a:solidFill>
                <a:latin typeface="Arial"/>
              </a:rPr>
              <a:t>D2 — Сметы, КП, договоры: </a:t>
            </a:r>
            <a:r>
              <a:rPr sz="1600">
                <a:solidFill>
                  <a:srgbClr val="191919"/>
                </a:solidFill>
                <a:latin typeface="Arial"/>
              </a:rPr>
              <a:t>расчёты, коммерческие предложения, договоры, юридическая проверка и статус оплаты.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1919"/>
                </a:solidFill>
                <a:latin typeface="Arial"/>
              </a:rPr>
              <a:t>D3 — Реестр документов и цифровые копии: </a:t>
            </a:r>
            <a:r>
              <a:rPr sz="1600">
                <a:solidFill>
                  <a:srgbClr val="191919"/>
                </a:solidFill>
                <a:latin typeface="Arial"/>
              </a:rPr>
              <a:t>идентификаторы, атрибуты, цифровые образы и метаданные.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1919"/>
                </a:solidFill>
                <a:latin typeface="Arial"/>
              </a:rPr>
              <a:t>D4 — Архивные единицы и места хранения: </a:t>
            </a:r>
            <a:r>
              <a:rPr sz="1600">
                <a:solidFill>
                  <a:srgbClr val="191919"/>
                </a:solidFill>
                <a:latin typeface="Arial"/>
              </a:rPr>
              <a:t>места размещения, сроки хранения и история перемещений.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91919"/>
                </a:solidFill>
                <a:latin typeface="Arial"/>
              </a:rPr>
              <a:t>D5 — Журнал этапов, сроков и работы сотрудников: </a:t>
            </a:r>
            <a:r>
              <a:rPr sz="1600">
                <a:solidFill>
                  <a:srgbClr val="191919"/>
                </a:solidFill>
                <a:latin typeface="Arial"/>
              </a:rPr>
              <a:t>плановые/фактические даты, этапы, исполнители и объёмы работ.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57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A600FF"/>
                </a:solidFill>
                <a:latin typeface="Arial"/>
              </a:rPr>
              <a:t>Ключевой принцип модели: на A0 процессы не передают данные друг другу напрямую — результат фиксируется в накопителе и читается следующим процессом.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Балансировка модели и матрица событий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143000" y="1600200"/>
          <a:ext cx="769924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2331720"/>
                <a:gridCol w="1645920"/>
                <a:gridCol w="2423160"/>
                <a:gridCol w="914400"/>
              </a:tblGrid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91919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919"/>
                          </a:solidFill>
                          <a:latin typeface="Arial"/>
                        </a:rPr>
                        <a:t>Событие / триггер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919"/>
                          </a:solidFill>
                          <a:latin typeface="Arial"/>
                        </a:rPr>
                        <a:t>Процесс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91919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91919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Поступила заявка клиента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Карточка заявки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D1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Директор принял решение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Решение клиенту, обновление заказа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D1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Заказ принят к расчёту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Задание отделу расчётов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D1/D2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Получен расчёт стоимости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Проектная смета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Получены бухгалтерские расчёты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План и спецификация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Директор утвердил расчёты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Коммерческое предложение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Клиент согласовал КП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2.0/3.0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Согласованные условия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Юрист завершил проверку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Договор на подписание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Подписан договор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Договор и ожидание оплаты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91919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Балансировка модели и матрица событий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143000" y="1572768"/>
          <a:ext cx="7699248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2331720"/>
                <a:gridCol w="1645920"/>
                <a:gridCol w="2423160"/>
                <a:gridCol w="914400"/>
              </a:tblGrid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91919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919"/>
                          </a:solidFill>
                          <a:latin typeface="Arial"/>
                        </a:rPr>
                        <a:t>Событие / триггер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919"/>
                          </a:solidFill>
                          <a:latin typeface="Arial"/>
                        </a:rPr>
                        <a:t>Процесс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919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91919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Поступила оплата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Готовность заказа к исполнению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D2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Начата производственная обработка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Задание сотрудникам, старт этапа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D3/D5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Завершено сканирование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Цифровые копии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D3/D5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Завершена маркировка и сортировка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Реестр и метаданные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D3/D5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Документы размещены на хранение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Место и срок хранения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D4/D5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Поступил запрос на поиск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Результат поиска / доступ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D3/D4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Срок хранения подходит к концу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6.0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Предупреждение диспетчеру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D4/D5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Наступил периодический контроль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6.0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Аналитический отчёт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D1–D5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Заказ полностью выполнен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6.0/1.0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Итоговый статус и аналитика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91919"/>
                          </a:solidFill>
                          <a:latin typeface="Arial"/>
                        </a:rPr>
                        <a:t>D1/D5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 rot="1200000">
            <a:off x="4754880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 rot="1200000">
            <a:off x="4919472" y="-502920"/>
            <a:ext cx="1920240" cy="1463040"/>
          </a:xfrm>
          <a:prstGeom prst="arc">
            <a:avLst/>
          </a:prstGeom>
          <a:noFill/>
          <a:ln w="1778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 rot="5400000">
            <a:off x="11612880" y="301752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 rot="5400000">
            <a:off x="11612880" y="3200400"/>
            <a:ext cx="1554480" cy="201168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 rot="12000000">
            <a:off x="-274320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 rot="12000000">
            <a:off x="-109728" y="5715000"/>
            <a:ext cx="1920240" cy="1371600"/>
          </a:xfrm>
          <a:prstGeom prst="arc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"/>
            <a:ext cx="9235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91919"/>
                </a:solidFill>
                <a:latin typeface="Arial"/>
              </a:rPr>
              <a:t>Заключение</a:t>
            </a:r>
          </a:p>
        </p:txBody>
      </p:sp>
      <p:pic>
        <p:nvPicPr>
          <p:cNvPr id="9" name="Picture 8" descr="sunbag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28600"/>
            <a:ext cx="1737360" cy="5900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1143000"/>
            <a:ext cx="11411712" cy="5285232"/>
          </a:xfrm>
          <a:prstGeom prst="roundRect">
            <a:avLst/>
          </a:prstGeom>
          <a:noFill/>
          <a:ln w="16510"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91088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91088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13" name="Oval 12"/>
          <p:cNvSpPr/>
          <p:nvPr/>
        </p:nvSpPr>
        <p:spPr>
          <a:xfrm>
            <a:off x="11393424" y="1481328"/>
            <a:ext cx="246888" cy="246888"/>
          </a:xfrm>
          <a:prstGeom prst="ellipse">
            <a:avLst/>
          </a:prstGeom>
          <a:solidFill>
            <a:srgbClr val="A600FF"/>
          </a:solidFill>
          <a:ln>
            <a:solidFill>
              <a:srgbClr val="A6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93424" y="1444752"/>
            <a:ext cx="246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37360"/>
            <a:ext cx="10607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91919"/>
                </a:solidFill>
                <a:latin typeface="Arial"/>
              </a:rPr>
              <a:t>• Разработанная DFD-модель описывает логический контур автоматизации ООО «Архив Кнопка».</a:t>
            </a:r>
            <a:br/>
            <a:br/>
            <a:r>
              <a:rPr sz="1800" b="0">
                <a:solidFill>
                  <a:srgbClr val="191919"/>
                </a:solidFill>
                <a:latin typeface="Arial"/>
              </a:rPr>
              <a:t>• Определены внешние сущности, шесть процессов уровня A0 и пять накопителей данных D1–D5.</a:t>
            </a:r>
            <a:br/>
            <a:br/>
            <a:r>
              <a:rPr sz="1800" b="0">
                <a:solidFill>
                  <a:srgbClr val="191919"/>
                </a:solidFill>
                <a:latin typeface="Arial"/>
              </a:rPr>
              <a:t>• Процесс 1.0 дополнительно декомпозирован на уровне A1, а обмен между основными процессами организован через накопители данных.</a:t>
            </a:r>
            <a:br/>
            <a:br/>
            <a:r>
              <a:rPr sz="1800" b="0">
                <a:solidFill>
                  <a:srgbClr val="191919"/>
                </a:solidFill>
                <a:latin typeface="Arial"/>
              </a:rPr>
              <a:t>• Модель охватывает путь заказа от регистрации заявки и расчёта стоимости до договора, оцифровки, архивного хранения, поиска документов и контроля сроков.</a:t>
            </a:r>
            <a:br/>
            <a:br/>
            <a:r>
              <a:rPr sz="1800" b="0">
                <a:solidFill>
                  <a:srgbClr val="191919"/>
                </a:solidFill>
                <a:latin typeface="Arial"/>
              </a:rPr>
              <a:t>• Полученная модель может использоваться как основа для следующего этапа проектирования информационной системы и базы данных.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nbag_like_dark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0" y="2011680"/>
            <a:ext cx="7132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Спасибо</a:t>
            </a:r>
            <a:br/>
            <a:r>
              <a:rPr sz="3400" b="1">
                <a:solidFill>
                  <a:srgbClr val="FFFFFF"/>
                </a:solidFill>
                <a:latin typeface="Arial"/>
              </a:rPr>
              <a:t>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47548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ITMO — more than 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